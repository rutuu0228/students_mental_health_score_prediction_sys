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43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D3F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B3D3F"/>
                </a:solidFill>
                <a:latin typeface="Calibri"/>
              </a:rPr>
              <a:t>R² Score by Model (higher is better)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R² Score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B3D3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Linear
Regression</c:v>
                </c:pt>
                <c:pt idx="1">
                  <c:v>Decision
Tree</c:v>
                </c:pt>
                <c:pt idx="2">
                  <c:v>Random
Forest</c:v>
                </c:pt>
                <c:pt idx="3">
                  <c:v>Gradient
Boosting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0.78900000000000003</c:v>
                </c:pt>
                <c:pt idx="1">
                  <c:v>0.85099999999999998</c:v>
                </c:pt>
                <c:pt idx="2">
                  <c:v>0.91700000000000004</c:v>
                </c:pt>
                <c:pt idx="3">
                  <c:v>0.84299999999999997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37-4867-8FE5-63B350B2AFB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B2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E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F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9987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280160"/>
            <a:ext cx="4114800" cy="4114800"/>
          </a:xfrm>
          <a:prstGeom prst="ellipse">
            <a:avLst/>
          </a:prstGeom>
          <a:solidFill>
            <a:srgbClr val="028090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2926080" cy="2926080"/>
          </a:xfrm>
          <a:prstGeom prst="ellipse">
            <a:avLst/>
          </a:prstGeom>
          <a:solidFill>
            <a:srgbClr val="00A896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 ·  FINAL YEAR PROJECT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8686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Mental Health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Prediction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F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a student's mental health score from lifestyle and digital-usage patterns using machine learning regression.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2743200" cy="0"/>
          </a:xfrm>
          <a:prstGeom prst="line">
            <a:avLst/>
          </a:prstGeom>
          <a:noFill/>
          <a:ln w="254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9834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Rutuja Dhumal &amp; Vaibhav Solanke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&amp; Objective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509760" y="274320"/>
            <a:ext cx="128016" cy="12801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280160"/>
            <a:ext cx="6309360" cy="4892040"/>
          </a:xfrm>
          <a:prstGeom prst="roundRect">
            <a:avLst>
              <a:gd name="adj" fmla="val 2243"/>
            </a:avLst>
          </a:prstGeom>
          <a:solidFill>
            <a:srgbClr val="F0F7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everyday student habits predict mental well-being?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14600"/>
            <a:ext cx="5669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well-being is shaped by daily habits — social media use, study time, sleep, physical activity, and stress.</a:t>
            </a:r>
            <a:endParaRPr lang="en-US" sz="1400" dirty="0"/>
          </a:p>
          <a:p>
            <a:pPr marL="0" indent="0">
              <a:lnSpc>
                <a:spcPct val="135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use machine learning regression to predict a continuous Mental Health Score from these lifestyle and digital-usage variables.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an academic ML project — the score is not a medical diagnosis or a clinical assessment.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78040" y="12801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178040" y="1819656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78040" y="18196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571232" y="175564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dataset's structure &amp; quality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78040" y="2322576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78040" y="23225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571232" y="225856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and prepare the data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178040" y="2825496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8040" y="28254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571232" y="276148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lifestyle vs. mental-health relationships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178040" y="3328416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78040" y="33284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71232" y="326440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features for machine learning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178040" y="3831336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78040" y="3831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571232" y="376732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regression models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78040" y="4334256"/>
            <a:ext cx="256032" cy="25603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78040" y="433425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571232" y="4270248"/>
            <a:ext cx="4069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strongest baseline model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F0F7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533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student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46120" y="123444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246120" y="13533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4,998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4612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F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after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DF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1234440"/>
            <a:ext cx="2468880" cy="1417320"/>
          </a:xfrm>
          <a:prstGeom prst="roundRect">
            <a:avLst>
              <a:gd name="adj" fmla="val 6452"/>
            </a:avLst>
          </a:prstGeom>
          <a:solidFill>
            <a:srgbClr val="F0F7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3533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Categories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82296" cy="566928"/>
          </a:xfrm>
          <a:prstGeom prst="roundRect">
            <a:avLst>
              <a:gd name="adj" fmla="val 22222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33649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364992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Gender, Country, Academic Level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041648"/>
            <a:ext cx="82296" cy="566928"/>
          </a:xfrm>
          <a:prstGeom prst="roundRect">
            <a:avLst>
              <a:gd name="adj" fmla="val 22222"/>
            </a:avLst>
          </a:prstGeom>
          <a:solidFill>
            <a:srgbClr val="02C39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40233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Usage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71800" y="4023360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Platform, Purpose of Use, Daily Usage Hours, Daily Unlocks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700016"/>
            <a:ext cx="82296" cy="566928"/>
          </a:xfrm>
          <a:prstGeom prst="roundRect">
            <a:avLst>
              <a:gd name="adj" fmla="val 22222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68172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2971800" y="4681728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Hours, Physical Activity Hours, Sleep Hours/Night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358384"/>
            <a:ext cx="82296" cy="566928"/>
          </a:xfrm>
          <a:prstGeom prst="roundRect">
            <a:avLst>
              <a:gd name="adj" fmla="val 22222"/>
            </a:avLst>
          </a:prstGeom>
          <a:solidFill>
            <a:srgbClr val="02C39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34009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Well-being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71800" y="5340096"/>
            <a:ext cx="5669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Level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869680" y="1234440"/>
            <a:ext cx="2743200" cy="4937760"/>
          </a:xfrm>
          <a:prstGeom prst="roundRect">
            <a:avLst>
              <a:gd name="adj" fmla="val 4000"/>
            </a:avLst>
          </a:prstGeom>
          <a:solidFill>
            <a:srgbClr val="0B3D3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98280" y="15087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VARIABLE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9098280" y="1874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Mental Health Score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278892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F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continuous numeric value — making this a regression problem, not classification.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098280" y="4160520"/>
            <a:ext cx="2286000" cy="0"/>
          </a:xfrm>
          <a:prstGeom prst="line">
            <a:avLst/>
          </a:prstGeom>
          <a:noFill/>
          <a:ln w="12700">
            <a:solidFill>
              <a:srgbClr val="00A89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98280" y="434340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i="1" dirty="0">
                <a:solidFill>
                  <a:srgbClr val="9F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note: descriptive EDA only — not evidence of medical causation.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Workflow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lives in its own notebook, so the pipeline is reproducible step by step.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33756" y="228600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0F7F6"/>
          </a:solidFill>
          <a:ln/>
        </p:spPr>
      </p:sp>
      <p:sp>
        <p:nvSpPr>
          <p:cNvPr id="5" name="Shape 3"/>
          <p:cNvSpPr/>
          <p:nvPr/>
        </p:nvSpPr>
        <p:spPr>
          <a:xfrm>
            <a:off x="969264" y="251460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9264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06908" y="3182112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25196" y="382219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Inspected structure, dtypes &amp; stats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16836" y="25603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281428" y="228600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0F7F6"/>
          </a:solidFill>
          <a:ln/>
        </p:spPr>
      </p:sp>
      <p:sp>
        <p:nvSpPr>
          <p:cNvPr id="11" name="Shape 9"/>
          <p:cNvSpPr/>
          <p:nvPr/>
        </p:nvSpPr>
        <p:spPr>
          <a:xfrm>
            <a:off x="2916936" y="251460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16936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354580" y="3182112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372868" y="382219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nulls; removed 2 duplicate rows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064508" y="25603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29100" y="228600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0F7F6"/>
          </a:solidFill>
          <a:ln/>
        </p:spPr>
      </p:sp>
      <p:sp>
        <p:nvSpPr>
          <p:cNvPr id="17" name="Shape 15"/>
          <p:cNvSpPr/>
          <p:nvPr/>
        </p:nvSpPr>
        <p:spPr>
          <a:xfrm>
            <a:off x="4864608" y="251460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64608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02252" y="3182112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endParaRPr lang="en-US" sz="12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320540" y="382219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Uni/bivariate, correlation heatmap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012180" y="25603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176772" y="228600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0F7F6"/>
          </a:solidFill>
          <a:ln/>
        </p:spPr>
      </p:sp>
      <p:sp>
        <p:nvSpPr>
          <p:cNvPr id="23" name="Shape 21"/>
          <p:cNvSpPr/>
          <p:nvPr/>
        </p:nvSpPr>
        <p:spPr>
          <a:xfrm>
            <a:off x="6812280" y="251460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12280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249924" y="3182112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12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268212" y="382219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+ scaling → 77 columns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959852" y="25603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24444" y="228600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0F7F6"/>
          </a:solidFill>
          <a:ln/>
        </p:spPr>
      </p:sp>
      <p:sp>
        <p:nvSpPr>
          <p:cNvPr id="29" name="Shape 27"/>
          <p:cNvSpPr/>
          <p:nvPr/>
        </p:nvSpPr>
        <p:spPr>
          <a:xfrm>
            <a:off x="8759952" y="2514600"/>
            <a:ext cx="512064" cy="51206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59952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197596" y="3182112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215884" y="382219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regression models compared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9907524" y="256032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0072116" y="228600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DEFD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707624" y="2514600"/>
            <a:ext cx="512064" cy="51206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707624" y="25146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5268" y="3182112"/>
            <a:ext cx="16367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Hyperparameter</a:t>
            </a:r>
            <a:endParaRPr lang="en-US" sz="125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10163556" y="3822192"/>
            <a:ext cx="1600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RandomizedSearchCV — in progress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33756" y="5623560"/>
            <a:ext cx="146304" cy="14630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34924" y="55321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88236" y="5623560"/>
            <a:ext cx="146304" cy="14630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2089404" y="55321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Predictors were split into categorical and numerical groups before transformation.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0F7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Categorical Features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2286000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2688336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97280" y="256946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68680" y="3090672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2971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Level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8680" y="3493008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97280" y="337413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Used Platform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3895344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37764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of Use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68680" y="4297680"/>
            <a:ext cx="100584" cy="1005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97280" y="41788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Level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79145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Encoded with OneHotEncoder &amp; OrdinalEncoder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17920" y="150876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0F7F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3796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Numerical Features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37960" y="2286000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0" y="216712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37960" y="2688336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66560" y="2569464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Daily Usage Hours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537960" y="3090672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0" y="2971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Unlocks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37960" y="3493008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766560" y="3374136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Hours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37960" y="3895344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766560" y="377647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Activity Hours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4297680"/>
            <a:ext cx="100584" cy="10058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0" y="41788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Hours per Night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537960" y="479145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with StandardScaler, combined via ColumnTransformer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13333"/>
            </a:avLst>
          </a:prstGeom>
          <a:solidFill>
            <a:srgbClr val="0B3D3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processed dataset expands to 4,998 rows × 77 columns, ready for modeling.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regression models trained and evaluated on the same test set.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49224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269480" y="1463040"/>
            <a:ext cx="4343400" cy="1874520"/>
          </a:xfrm>
          <a:prstGeom prst="roundRect">
            <a:avLst>
              <a:gd name="adj" fmla="val 5854"/>
            </a:avLst>
          </a:prstGeom>
          <a:solidFill>
            <a:srgbClr val="02809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27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BASELINE MODEL</a:t>
            </a:r>
            <a:endParaRPr lang="en-US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7543800" y="192024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 Regressor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543800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FF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0.9167  ·  MAE = 0.278  ·  RMSE = 0.386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543800" y="28346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CF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~91.7% of the variance in test-set scores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269480" y="3520440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B3D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by Model (lower is better)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269480" y="3931920"/>
            <a:ext cx="43434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EE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52360" y="393192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0149840" y="3931920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0.4758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269480" y="4443984"/>
            <a:ext cx="43434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EE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44439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10149840" y="4443984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0.3228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7269480" y="4956048"/>
            <a:ext cx="4343400" cy="438912"/>
          </a:xfrm>
          <a:prstGeom prst="roundRect">
            <a:avLst>
              <a:gd name="adj" fmla="val 12500"/>
            </a:avLst>
          </a:prstGeom>
          <a:solidFill>
            <a:srgbClr val="F0F7F6"/>
          </a:solidFill>
          <a:ln w="12700">
            <a:solidFill>
              <a:srgbClr val="E5EE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49560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0149840" y="4956048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0.2779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7269480" y="5468112"/>
            <a:ext cx="434340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5EE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52360" y="546811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Boosting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0149840" y="5468112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b="1" dirty="0">
                <a:solidFill>
                  <a:srgbClr val="5C6F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0.4106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D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Current Project Status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4892040"/>
          </a:xfrm>
          <a:prstGeom prst="roundRect">
            <a:avLst>
              <a:gd name="adj" fmla="val 2243"/>
            </a:avLst>
          </a:prstGeom>
          <a:solidFill>
            <a:srgbClr val="F0F7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 Completed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68680" y="2103120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04825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understanding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" y="2633472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26334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578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3163824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316382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3694176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694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6393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4224528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2245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16966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model comparison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68680" y="4754880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47548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7000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strongest baseline (Random Forest)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1280160"/>
            <a:ext cx="5394960" cy="4892040"/>
          </a:xfrm>
          <a:prstGeom prst="roundRect">
            <a:avLst>
              <a:gd name="adj" fmla="val 2243"/>
            </a:avLst>
          </a:prstGeom>
          <a:solidFill>
            <a:srgbClr val="FDF3E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37960" y="1508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B15E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⧗  In Progress / Planned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6537960" y="2103120"/>
            <a:ext cx="237744" cy="23774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37960" y="21031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903720" y="2048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hyperparameter tuning (RandomizedSearchCV)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537960" y="2724912"/>
            <a:ext cx="237744" cy="23774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37960" y="27249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6700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the tuned Random Forest model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3346704"/>
            <a:ext cx="237744" cy="23774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37960" y="3346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3291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the prediction pipeline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537960" y="3968496"/>
            <a:ext cx="237744" cy="23774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37960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903720" y="3913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final predictor notebook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537960" y="4590288"/>
            <a:ext cx="237744" cy="23774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37960" y="4590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903720" y="453542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project dependencies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6537960" y="5212080"/>
            <a:ext cx="237744" cy="237744"/>
          </a:xfrm>
          <a:prstGeom prst="ellipse">
            <a:avLst/>
          </a:prstGeom>
          <a:solidFill>
            <a:srgbClr val="E0862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37960" y="5212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903720" y="515721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simple prediction interface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D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114800" cy="4114800"/>
          </a:xfrm>
          <a:prstGeom prst="ellipse">
            <a:avLst/>
          </a:prstGeom>
          <a:solidFill>
            <a:srgbClr val="028090">
              <a:alpha val="5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640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Project Demonstrates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3736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5" name="Shape 3"/>
          <p:cNvSpPr/>
          <p:nvPr/>
        </p:nvSpPr>
        <p:spPr>
          <a:xfrm>
            <a:off x="1005840" y="199339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17320" y="173736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understanding &amp; cleaning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0" y="199339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12280" y="173736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data analysis &amp; visualization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22960" y="269748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5840" y="295351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17320" y="269748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Categorical encoding &amp; numerical scaling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269748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0" y="295351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12280" y="269748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transformation with ColumnTransformer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2960" y="365760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" y="391363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417320" y="365760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model comparison (4 algorithms)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391363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12280" y="365760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evaluation using MAE, RMSE, R²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2960" y="461772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5840" y="487375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417320" y="46177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&amp; hyperparameter search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617720"/>
            <a:ext cx="5120640" cy="777240"/>
          </a:xfrm>
          <a:prstGeom prst="roundRect">
            <a:avLst>
              <a:gd name="adj" fmla="val 11765"/>
            </a:avLst>
          </a:prstGeom>
          <a:solidFill>
            <a:srgbClr val="0F4C4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00800" y="4873752"/>
            <a:ext cx="274320" cy="2743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12280" y="4617720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Reproducible, notebook-based project structure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FC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finish tuning, finalize the pipeline, and build a simple prediction interface.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592</Words>
  <Application>Microsoft Office PowerPoint</Application>
  <PresentationFormat>Widescreen</PresentationFormat>
  <Paragraphs>160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Rutuja Dhumal</cp:lastModifiedBy>
  <cp:revision>3</cp:revision>
  <dcterms:created xsi:type="dcterms:W3CDTF">2026-09-03T10:26:20Z</dcterms:created>
  <dcterms:modified xsi:type="dcterms:W3CDTF">2026-09-04T19:54:26Z</dcterms:modified>
</cp:coreProperties>
</file>